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1. Conservation network represented in the simulation.</a:t>
            </a:r>
          </a:p>
        </p:txBody>
      </p:sp>
      <p:pic>
        <p:nvPicPr>
          <p:cNvPr id="3" name="Picture 2" descr="fig1_conservation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549" y="685800"/>
            <a:ext cx="7924595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70448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Arial"/>
              </a:rPr>
              <a:t>Figure 1. Conservation network represented in the simulation. Arrows denote potential movement among wild, managed, transitional, rehabilitation, and biobank nodes; feasible policies act on observed rather than true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831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latin typeface="Arial"/>
              </a:rPr>
              <a:t>Image-based artwork; edit titles/captions here and regenerate artwork with make figures.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2. Multiobjective policy comparison and Pareto status under the declared aggregate objectives.</a:t>
            </a:r>
          </a:p>
        </p:txBody>
      </p:sp>
      <p:pic>
        <p:nvPicPr>
          <p:cNvPr id="3" name="Picture 2" descr="fig3_pareto_outcom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280" y="685800"/>
            <a:ext cx="7307133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70448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Arial"/>
              </a:rPr>
              <a:t>Figure 2. Multiobjective policy comparison and Pareto status under the declared aggregate objectives.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831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latin typeface="Arial"/>
              </a:rPr>
              <a:t>Image-based artwork; edit titles/captions here and regenerate artwork with make figures.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3. Mean 100-year trajectories under the eight conservation policies.</a:t>
            </a:r>
          </a:p>
        </p:txBody>
      </p:sp>
      <p:pic>
        <p:nvPicPr>
          <p:cNvPr id="3" name="Picture 2" descr="fig2_century_traject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1024952"/>
            <a:ext cx="10972800" cy="439661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70448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Arial"/>
              </a:rPr>
              <a:t>Figure 3. Mean 100-year trajectories under the eight conservation policies. Trajectories are synthetic model outcomes, not forecasts for real taxa.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831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latin typeface="Arial"/>
              </a:rPr>
              <a:t>Image-based artwork; edit titles/captions here and regenerate artwork with make figures.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4. Extinction-before-discovery outcomes across latent-species fraction and survey-cost conditions.</a:t>
            </a:r>
          </a:p>
        </p:txBody>
      </p:sp>
      <p:pic>
        <p:nvPicPr>
          <p:cNvPr id="3" name="Picture 2" descr="fig5_extinction_before_discov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5834" y="685800"/>
            <a:ext cx="6660025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70448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Arial"/>
              </a:rPr>
              <a:t>Figure 4. Extinction-before-discovery outcomes across latent-species fraction and survey-cost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831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latin typeface="Arial"/>
              </a:rPr>
              <a:t>Image-based artwork; edit titles/captions here and regenerate artwork with make figures.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5. Normalized cross-objective outcomes.</a:t>
            </a:r>
          </a:p>
        </p:txBody>
      </p:sp>
      <p:pic>
        <p:nvPicPr>
          <p:cNvPr id="3" name="Picture 2" descr="fig6_objective_tradeof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087" y="685800"/>
            <a:ext cx="9401519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70448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Arial"/>
              </a:rPr>
              <a:t>Figure 5. Normalized cross-objective outcomes. Normalization is descriptive and does not define cardinal utility.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831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latin typeface="Arial"/>
              </a:rPr>
              <a:t>Image-based artwork; edit titles/captions here and regenerate artwork with make figures.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6. Partial-observation architecture separating true ecological state, observations, policy actions, and realized outcomes.</a:t>
            </a:r>
          </a:p>
        </p:txBody>
      </p:sp>
      <p:pic>
        <p:nvPicPr>
          <p:cNvPr id="3" name="Picture 2" descr="fig7_partial_observation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0644" y="685800"/>
            <a:ext cx="9490406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70448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Arial"/>
              </a:rPr>
              <a:t>Figure 6. Partial-observation architecture separating true ecological state, observations, policy actions, and realized outcomes.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831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latin typeface="Arial"/>
              </a:rPr>
              <a:t>Image-based artwork; edit titles/captions here and regenerate artwork with make figures.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7. Policy-reversal surfaces for selected two-factor sweeps.</a:t>
            </a:r>
          </a:p>
        </p:txBody>
      </p:sp>
      <p:pic>
        <p:nvPicPr>
          <p:cNvPr id="3" name="Picture 2" descr="fig4_policy_reversal_threshol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77169"/>
            <a:ext cx="10972800" cy="44921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70448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Arial"/>
              </a:rPr>
              <a:t>Figure 7. Policy-reversal surfaces for selected two-factor sweeps. Color represents the difference in 100-year survival between the hybrid portfolio (S7) and habitat-first policy (S6).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831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latin typeface="Arial"/>
              </a:rPr>
              <a:t>Image-based artwork; edit titles/captions here and regenerate artwork with make figures.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8. Exploration–exploitation patterns across survey-cost conditions.</a:t>
            </a:r>
          </a:p>
        </p:txBody>
      </p:sp>
      <p:pic>
        <p:nvPicPr>
          <p:cNvPr id="3" name="Picture 2" descr="fig8_exploration_exploi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447" y="940520"/>
            <a:ext cx="10972800" cy="456547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70448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Arial"/>
              </a:rPr>
              <a:t>Figure 8. Exploration–exploitation patterns across survey-cost conditions.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831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latin typeface="Arial"/>
              </a:rPr>
              <a:t>Image-based artwork; edit titles/captions here and regenerate artwork with make figures.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11365992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latin typeface="Arial"/>
              </a:rPr>
              <a:t>Figure 9. Origin-to-future habitat-quality shift under the deterministic component of directional environmental change.</a:t>
            </a:r>
          </a:p>
        </p:txBody>
      </p:sp>
      <p:pic>
        <p:nvPicPr>
          <p:cNvPr id="3" name="Picture 2" descr="fig9_origin_future_optim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2331" y="685800"/>
            <a:ext cx="7487031" cy="5074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5870448"/>
            <a:ext cx="1118311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latin typeface="Arial"/>
              </a:rPr>
              <a:t>Figure 9. Origin-to-future habitat-quality shift under the deterministic component of directional environmental change.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601968"/>
            <a:ext cx="11183112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latin typeface="Arial"/>
              </a:rPr>
              <a:t>Image-based artwork; edit titles/captions here and regenerate artwork with make figures.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Submission figure deck</dc:title>
  <dc:subject>Editable slide titles and captions with image-based figure artwork</dc:subject>
  <dc:creator/>
  <cp:keywords/>
  <dc:description/>
  <cp:lastModifiedBy/>
  <cp:revision>1</cp:revision>
  <dcterms:created xsi:type="dcterms:W3CDTF">2013-01-27T09:14:16Z</dcterms:created>
  <dcterms:modified xsi:type="dcterms:W3CDTF">2013-01-27T09:15:58Z</dcterms:modified>
  <cp:category/>
</cp:coreProperties>
</file>